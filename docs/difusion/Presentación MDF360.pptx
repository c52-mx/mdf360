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MDF360 es la plataforma de la iglesia para cuidar a las personas y organizar el servicio. Hoy veremos lo que ya funciona, lo que viene y lo que todavía estamos definiendo con ustedes.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sola aplicación para acompañar a las personas y organizar el servicio. Se usa desde el teléfono. Tres ideas: conocernos, caminar juntos y servir.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se registra solo: alguien de la iglesia invita. El enlace llega por WhatsApp. Se elige un PIN de 6 números y se instala como una app, sin tienda.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línea muestra el orden, sin fechas: las fechas dependen de lo que vayamos probando y definiendo juntos. En verde lo que ya funciona y se está probando; en morado lo que sigue de cerca; en ámbar lo que viene más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cuenta se protege con un PIN. Los roles con información delicada usan contraseña más larga. Si alguien se equivoca varias veces, la cuenta se bloquea unos minutos y la administración la puede desbloquear.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persona puede tener tres niveles de registro, según el seguimiento. Mi cuenta es donde cada quien corrige sus datos básicos, sube su foto, registra sus vehículos y elige su color. No se puede cambiar el grupo ni los roles desde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se identifica por sector, una letra, y casa, un número. El líder puede invitar con un QR o un enlace; la persona espera en una sala de espera hasta que el líder la aprueba, como en las videollamadas.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secretario pasa lista y captura la ofrenda. El tesorero cuenta por su lado, escribe su cifra y confirma con su PIN. Si coinciden, queda avalada; si no, se marca con diferencia y se avisa. Quien captura no puede avalar.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personas con cuenta pueden pedir oración. Cada quien elige quién la ve. Se guardan cifradas y se borran solas a los 30 días. En un grupo o ministerio hay un alcance más: toda la gente que participa.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avisos se agrupan por origen. Quien tiene permiso puede mandar un mismo aviso a toda la iglesia, a varios grupos, a varios ministerios y a personas. Cada destino respeta su permiso. Con las notificaciones activadas llega una alerta al teléfono.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ministerio es un área de servicio: cafetería, librería, niños, danza. Cada uno tiene un encargado, una persona de respaldo y servidores. Cada rol vale solo dentro de su ministerio.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medidas ya activas: aviso de privacidad y consentimiento, foto con permiso aparte, peticiones cifradas, bitácora de quién consulta qué, y vehículos solo para ubicarte. El texto del aviso es provisional hasta tener el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administración puede cambiar roles, permisos, formularios y el aviso de privacidad desde la aplicación, sin pedirle cambios a un programador. Todo cambio queda en la bitácora.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ya se ha considerado, sin fechas. El orden depende de lo que la iglesia defina y pruebe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 decisiones que no son de tecnología: son de criterio de la iglesia. Las estamos trabajando con la dirección y el asesor legal. Esto no es una lista de problemas; es la lista de cuidados que queremos tener antes de abrir 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a probar: usar la aplicación, anotar lo que no se entienda o no funcione, y decírselo al líder o al equipo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E1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MDF360 · Mundo de Fe México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 decorativo grande"/>
          <p:cNvSpPr/>
          <p:nvPr/>
        </p:nvSpPr>
        <p:spPr>
          <a:xfrm>
            <a:off x="5852160" y="-822960"/>
            <a:ext cx="4754880" cy="4754880"/>
          </a:xfrm>
          <a:prstGeom prst="ellipse">
            <a:avLst/>
          </a:prstGeom>
          <a:solidFill>
            <a:srgbClr val="4B2A7B">
              <a:alpha val="70000"/>
            </a:srgbClr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4" name="círculo decorativo verde"/>
          <p:cNvSpPr/>
          <p:nvPr/>
        </p:nvSpPr>
        <p:spPr>
          <a:xfrm>
            <a:off x="7040880" y="2651760"/>
            <a:ext cx="2926080" cy="2926080"/>
          </a:xfrm>
          <a:prstGeom prst="ellipse">
            <a:avLst/>
          </a:prstGeom>
          <a:solidFill>
            <a:srgbClr val="2FA36B">
              <a:alpha val="45000"/>
            </a:srgbClr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 DE FE MÉXICO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002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MDF360</a:t>
            </a:r>
            <a:endParaRPr lang="en-US" sz="6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4DC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iglesia, más cerca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funciona y lo que viene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MDF360?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aplicación para cuidar a las personas y organizar el servicio de la iglesia.</a:t>
            </a:r>
            <a:endParaRPr lang="en-US" sz="1800" dirty="0"/>
          </a:p>
        </p:txBody>
      </p:sp>
      <p:sp>
        <p:nvSpPr>
          <p:cNvPr id="5" name="tarjeta"/>
          <p:cNvSpPr/>
          <p:nvPr/>
        </p:nvSpPr>
        <p:spPr>
          <a:xfrm>
            <a:off x="548640" y="18745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onocernos fondo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7" name="Conocernos" descr="Conocern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29331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Conocernos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expediente sencillo de cada persona, con su privacidad cuidada.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3291840" y="18745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aminar juntos fondo"/>
          <p:cNvSpPr/>
          <p:nvPr/>
        </p:nvSpPr>
        <p:spPr>
          <a:xfrm>
            <a:off x="3520440" y="2103120"/>
            <a:ext cx="731520" cy="73152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2" name="Caminar juntos" descr="Caminar jun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229331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Caminar juntos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Conexión, oración, avisos y seguimiento de cada reunión.</a:t>
            </a:r>
            <a:endParaRPr lang="en-US" sz="1400" dirty="0"/>
          </a:p>
        </p:txBody>
      </p:sp>
      <p:sp>
        <p:nvSpPr>
          <p:cNvPr id="15" name="tarjeta"/>
          <p:cNvSpPr/>
          <p:nvPr/>
        </p:nvSpPr>
        <p:spPr>
          <a:xfrm>
            <a:off x="6035040" y="187452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ervir fondo"/>
          <p:cNvSpPr/>
          <p:nvPr/>
        </p:nvSpPr>
        <p:spPr>
          <a:xfrm>
            <a:off x="6263640" y="2103120"/>
            <a:ext cx="731520" cy="73152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7" name="Servir" descr="Serv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35" y="229331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636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Servir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34290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Ministerios con sus encargados, servidores y avisos propios.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usa desde tu teléfono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41732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úmero 1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Recibes tu invitación" descr="Recibes tu invit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Recibes tu invitación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un enlace por WhatsApp.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2606040" y="141732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número 2"/>
          <p:cNvSpPr/>
          <p:nvPr/>
        </p:nvSpPr>
        <p:spPr>
          <a:xfrm>
            <a:off x="2743200" y="1554480"/>
            <a:ext cx="384048" cy="384048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43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Eliges tu PIN" descr="Eliges tu 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10312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432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tu PIN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27432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números fáciles de recordar.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4663440" y="141732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número 3"/>
          <p:cNvSpPr/>
          <p:nvPr/>
        </p:nvSpPr>
        <p:spPr>
          <a:xfrm>
            <a:off x="4800600" y="1554480"/>
            <a:ext cx="384048" cy="384048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8006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La instalas" descr="La instal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0312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006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instalas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8006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a tu pantalla de inicio, sin tienda.</a:t>
            </a:r>
            <a:endParaRPr lang="en-US" sz="1300" dirty="0"/>
          </a:p>
        </p:txBody>
      </p:sp>
      <p:sp>
        <p:nvSpPr>
          <p:cNvPr id="22" name="tarjeta"/>
          <p:cNvSpPr/>
          <p:nvPr/>
        </p:nvSpPr>
        <p:spPr>
          <a:xfrm>
            <a:off x="6720840" y="141732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número 4"/>
          <p:cNvSpPr/>
          <p:nvPr/>
        </p:nvSpPr>
        <p:spPr>
          <a:xfrm>
            <a:off x="6858000" y="1554480"/>
            <a:ext cx="384048" cy="384048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5" name="Entras" descr="Entr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103120"/>
            <a:ext cx="594360" cy="5943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WhatsApp (o correo) y tu PIN.</a:t>
            </a:r>
            <a:endParaRPr lang="en-US" sz="1300" dirty="0"/>
          </a:p>
        </p:txBody>
      </p:sp>
      <p:sp>
        <p:nvSpPr>
          <p:cNvPr id="28" name="tarjeta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18462"/>
            </a:avLst>
          </a:prstGeom>
          <a:solidFill>
            <a:srgbClr val="E3F4E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sin conexión" descr="Sin conexió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6052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8872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pase de lista funciona aunque no haya internet en la casa: se envía cuando regresa la señal.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camino de MDF360</a:t>
            </a:r>
            <a:endParaRPr lang="en-US" sz="3000" dirty="0"/>
          </a:p>
        </p:txBody>
      </p:sp>
      <p:sp>
        <p:nvSpPr>
          <p:cNvPr id="4" name="etiqueta Ya disponible"/>
          <p:cNvSpPr/>
          <p:nvPr/>
        </p:nvSpPr>
        <p:spPr>
          <a:xfrm>
            <a:off x="548640" y="10972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E3F4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disponible</a:t>
            </a:r>
            <a:endParaRPr lang="en-US" sz="1200" dirty="0"/>
          </a:p>
        </p:txBody>
      </p:sp>
      <p:sp>
        <p:nvSpPr>
          <p:cNvPr id="6" name="etiqueta En camino"/>
          <p:cNvSpPr/>
          <p:nvPr/>
        </p:nvSpPr>
        <p:spPr>
          <a:xfrm>
            <a:off x="2331720" y="10972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33172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camino</a:t>
            </a:r>
            <a:endParaRPr lang="en-US" sz="1200" dirty="0"/>
          </a:p>
        </p:txBody>
      </p:sp>
      <p:sp>
        <p:nvSpPr>
          <p:cNvPr id="8" name="etiqueta Más adelante"/>
          <p:cNvSpPr/>
          <p:nvPr/>
        </p:nvSpPr>
        <p:spPr>
          <a:xfrm>
            <a:off x="4023360" y="1097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DF1DA"/>
          </a:solidFill>
          <a:ln w="12700">
            <a:solidFill>
              <a:srgbClr val="FDF1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23360" y="1097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adelante</a:t>
            </a:r>
            <a:endParaRPr lang="en-US" sz="1200" dirty="0"/>
          </a:p>
        </p:txBody>
      </p:sp>
      <p:sp>
        <p:nvSpPr>
          <p:cNvPr id="10" name="línea de tiempo"/>
          <p:cNvSpPr/>
          <p:nvPr/>
        </p:nvSpPr>
        <p:spPr>
          <a:xfrm>
            <a:off x="548640" y="3063240"/>
            <a:ext cx="8046720" cy="0"/>
          </a:xfrm>
          <a:prstGeom prst="line">
            <a:avLst/>
          </a:prstGeom>
          <a:noFill/>
          <a:ln w="38100">
            <a:solidFill>
              <a:srgbClr val="C9BCE0"/>
            </a:solidFill>
            <a:prstDash val="solid"/>
          </a:ln>
        </p:spPr>
      </p:sp>
      <p:sp>
        <p:nvSpPr>
          <p:cNvPr id="11" name="nodo Acceso y personas"/>
          <p:cNvSpPr/>
          <p:nvPr/>
        </p:nvSpPr>
        <p:spPr>
          <a:xfrm>
            <a:off x="1078992" y="2907792"/>
            <a:ext cx="310896" cy="310896"/>
          </a:xfrm>
          <a:prstGeom prst="ellipse">
            <a:avLst/>
          </a:prstGeom>
          <a:solidFill>
            <a:srgbClr val="2FA36B"/>
          </a:solidFill>
          <a:ln w="38100">
            <a:solidFill>
              <a:srgbClr val="2FA36B"/>
            </a:solidFill>
            <a:prstDash val="solid"/>
          </a:ln>
        </p:spPr>
      </p:sp>
      <p:sp>
        <p:nvSpPr>
          <p:cNvPr id="12" name="conector Acceso y personas"/>
          <p:cNvSpPr/>
          <p:nvPr/>
        </p:nvSpPr>
        <p:spPr>
          <a:xfrm>
            <a:off x="1234440" y="2606040"/>
            <a:ext cx="0" cy="301752"/>
          </a:xfrm>
          <a:prstGeom prst="line">
            <a:avLst/>
          </a:prstGeom>
          <a:noFill/>
          <a:ln w="15875">
            <a:solidFill>
              <a:srgbClr val="2FA3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13716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personas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Invitación, PIN y expedientes</a:t>
            </a:r>
            <a:endParaRPr lang="en-US" sz="1300" dirty="0"/>
          </a:p>
        </p:txBody>
      </p:sp>
      <p:sp>
        <p:nvSpPr>
          <p:cNvPr id="14" name="nodo Grupos"/>
          <p:cNvSpPr/>
          <p:nvPr/>
        </p:nvSpPr>
        <p:spPr>
          <a:xfrm>
            <a:off x="1920240" y="2907792"/>
            <a:ext cx="310896" cy="310896"/>
          </a:xfrm>
          <a:prstGeom prst="ellipse">
            <a:avLst/>
          </a:prstGeom>
          <a:solidFill>
            <a:srgbClr val="2FA36B"/>
          </a:solidFill>
          <a:ln w="38100">
            <a:solidFill>
              <a:srgbClr val="2FA36B"/>
            </a:solidFill>
            <a:prstDash val="solid"/>
          </a:ln>
        </p:spPr>
      </p:sp>
      <p:sp>
        <p:nvSpPr>
          <p:cNvPr id="15" name="conector Grupos"/>
          <p:cNvSpPr/>
          <p:nvPr/>
        </p:nvSpPr>
        <p:spPr>
          <a:xfrm>
            <a:off x="2075688" y="3218688"/>
            <a:ext cx="0" cy="301752"/>
          </a:xfrm>
          <a:prstGeom prst="line">
            <a:avLst/>
          </a:prstGeom>
          <a:noFill/>
          <a:ln w="15875">
            <a:solidFill>
              <a:srgbClr val="2FA3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98448" y="363016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Reuniones, pase de lista y ofrendas</a:t>
            </a:r>
            <a:endParaRPr lang="en-US" sz="1300" dirty="0"/>
          </a:p>
        </p:txBody>
      </p:sp>
      <p:sp>
        <p:nvSpPr>
          <p:cNvPr id="17" name="nodo Oración y avisos"/>
          <p:cNvSpPr/>
          <p:nvPr/>
        </p:nvSpPr>
        <p:spPr>
          <a:xfrm>
            <a:off x="2761488" y="2907792"/>
            <a:ext cx="310896" cy="310896"/>
          </a:xfrm>
          <a:prstGeom prst="ellipse">
            <a:avLst/>
          </a:prstGeom>
          <a:solidFill>
            <a:srgbClr val="2FA36B"/>
          </a:solidFill>
          <a:ln w="38100">
            <a:solidFill>
              <a:srgbClr val="2FA36B"/>
            </a:solidFill>
            <a:prstDash val="solid"/>
          </a:ln>
        </p:spPr>
      </p:sp>
      <p:sp>
        <p:nvSpPr>
          <p:cNvPr id="18" name="conector Oración y avisos"/>
          <p:cNvSpPr/>
          <p:nvPr/>
        </p:nvSpPr>
        <p:spPr>
          <a:xfrm>
            <a:off x="2916936" y="2606040"/>
            <a:ext cx="0" cy="301752"/>
          </a:xfrm>
          <a:prstGeom prst="line">
            <a:avLst/>
          </a:prstGeom>
          <a:noFill/>
          <a:ln w="15875">
            <a:solidFill>
              <a:srgbClr val="2FA3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39696" y="13716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Oración y avisos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Peticiones, tableros y notificaciones</a:t>
            </a:r>
            <a:endParaRPr lang="en-US" sz="1300" dirty="0"/>
          </a:p>
        </p:txBody>
      </p:sp>
      <p:sp>
        <p:nvSpPr>
          <p:cNvPr id="20" name="nodo Ministerios y formularios"/>
          <p:cNvSpPr/>
          <p:nvPr/>
        </p:nvSpPr>
        <p:spPr>
          <a:xfrm>
            <a:off x="3602736" y="2907792"/>
            <a:ext cx="310896" cy="310896"/>
          </a:xfrm>
          <a:prstGeom prst="ellipse">
            <a:avLst/>
          </a:prstGeom>
          <a:solidFill>
            <a:srgbClr val="2FA36B"/>
          </a:solidFill>
          <a:ln w="38100">
            <a:solidFill>
              <a:srgbClr val="2FA36B"/>
            </a:solidFill>
            <a:prstDash val="solid"/>
          </a:ln>
        </p:spPr>
      </p:sp>
      <p:sp>
        <p:nvSpPr>
          <p:cNvPr id="21" name="conector Ministerios y formularios"/>
          <p:cNvSpPr/>
          <p:nvPr/>
        </p:nvSpPr>
        <p:spPr>
          <a:xfrm>
            <a:off x="3758184" y="3218688"/>
            <a:ext cx="0" cy="301752"/>
          </a:xfrm>
          <a:prstGeom prst="line">
            <a:avLst/>
          </a:prstGeom>
          <a:noFill/>
          <a:ln w="15875">
            <a:solidFill>
              <a:srgbClr val="2FA36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80944" y="363016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Ministerios y formularios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servicio y campos a la medida</a:t>
            </a:r>
            <a:endParaRPr lang="en-US" sz="1300" dirty="0"/>
          </a:p>
        </p:txBody>
      </p:sp>
      <p:sp>
        <p:nvSpPr>
          <p:cNvPr id="23" name="nodo Aviso oficial y respaldos"/>
          <p:cNvSpPr/>
          <p:nvPr/>
        </p:nvSpPr>
        <p:spPr>
          <a:xfrm>
            <a:off x="4443984" y="2907792"/>
            <a:ext cx="310896" cy="310896"/>
          </a:xfrm>
          <a:prstGeom prst="ellipse">
            <a:avLst/>
          </a:prstGeom>
          <a:solidFill>
            <a:srgbClr val="4B2A7B"/>
          </a:solidFill>
          <a:ln w="38100">
            <a:solidFill>
              <a:srgbClr val="4B2A7B"/>
            </a:solidFill>
            <a:prstDash val="solid"/>
          </a:ln>
        </p:spPr>
      </p:sp>
      <p:sp>
        <p:nvSpPr>
          <p:cNvPr id="24" name="conector Aviso oficial y respaldos"/>
          <p:cNvSpPr/>
          <p:nvPr/>
        </p:nvSpPr>
        <p:spPr>
          <a:xfrm>
            <a:off x="4599432" y="2606040"/>
            <a:ext cx="0" cy="301752"/>
          </a:xfrm>
          <a:prstGeom prst="line">
            <a:avLst/>
          </a:prstGeom>
          <a:noFill/>
          <a:ln w="15875">
            <a:solidFill>
              <a:srgbClr val="4B2A7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22192" y="13716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oficial y respaldos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legal y copias de seguridad</a:t>
            </a:r>
            <a:endParaRPr lang="en-US" sz="1300" dirty="0"/>
          </a:p>
        </p:txBody>
      </p:sp>
      <p:sp>
        <p:nvSpPr>
          <p:cNvPr id="26" name="nodo Familias y niños"/>
          <p:cNvSpPr/>
          <p:nvPr/>
        </p:nvSpPr>
        <p:spPr>
          <a:xfrm>
            <a:off x="5285232" y="2907792"/>
            <a:ext cx="310896" cy="310896"/>
          </a:xfrm>
          <a:prstGeom prst="ellipse">
            <a:avLst/>
          </a:prstGeom>
          <a:solidFill>
            <a:srgbClr val="4B2A7B"/>
          </a:solidFill>
          <a:ln w="38100">
            <a:solidFill>
              <a:srgbClr val="4B2A7B"/>
            </a:solidFill>
            <a:prstDash val="solid"/>
          </a:ln>
        </p:spPr>
      </p:sp>
      <p:sp>
        <p:nvSpPr>
          <p:cNvPr id="27" name="conector Familias y niños"/>
          <p:cNvSpPr/>
          <p:nvPr/>
        </p:nvSpPr>
        <p:spPr>
          <a:xfrm>
            <a:off x="5440680" y="3218688"/>
            <a:ext cx="0" cy="301752"/>
          </a:xfrm>
          <a:prstGeom prst="line">
            <a:avLst/>
          </a:prstGeom>
          <a:noFill/>
          <a:ln w="15875">
            <a:solidFill>
              <a:srgbClr val="4B2A7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63440" y="363016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y niños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familiar y registro de menores</a:t>
            </a:r>
            <a:endParaRPr lang="en-US" sz="1300" dirty="0"/>
          </a:p>
        </p:txBody>
      </p:sp>
      <p:sp>
        <p:nvSpPr>
          <p:cNvPr id="29" name="nodo Cursos"/>
          <p:cNvSpPr/>
          <p:nvPr/>
        </p:nvSpPr>
        <p:spPr>
          <a:xfrm>
            <a:off x="6126480" y="290779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30" name="conector Cursos"/>
          <p:cNvSpPr/>
          <p:nvPr/>
        </p:nvSpPr>
        <p:spPr>
          <a:xfrm>
            <a:off x="6281928" y="2606040"/>
            <a:ext cx="0" cy="301752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04688" y="13716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Inscripción, asistencia y diplomas</a:t>
            </a:r>
            <a:endParaRPr lang="en-US" sz="1300" dirty="0"/>
          </a:p>
        </p:txBody>
      </p:sp>
      <p:sp>
        <p:nvSpPr>
          <p:cNvPr id="32" name="nodo Eventos y servicio"/>
          <p:cNvSpPr/>
          <p:nvPr/>
        </p:nvSpPr>
        <p:spPr>
          <a:xfrm>
            <a:off x="6967728" y="290779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33" name="conector Eventos y servicio"/>
          <p:cNvSpPr/>
          <p:nvPr/>
        </p:nvSpPr>
        <p:spPr>
          <a:xfrm>
            <a:off x="7123176" y="3218688"/>
            <a:ext cx="0" cy="301752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45936" y="363016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servicio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Cupo, turnos, inventario y ministerios</a:t>
            </a:r>
            <a:endParaRPr lang="en-US" sz="1300" dirty="0"/>
          </a:p>
        </p:txBody>
      </p:sp>
      <p:sp>
        <p:nvSpPr>
          <p:cNvPr id="35" name="nodo Reportes y alertas"/>
          <p:cNvSpPr/>
          <p:nvPr/>
        </p:nvSpPr>
        <p:spPr>
          <a:xfrm>
            <a:off x="7808976" y="290779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36" name="conector Reportes y alertas"/>
          <p:cNvSpPr/>
          <p:nvPr/>
        </p:nvSpPr>
        <p:spPr>
          <a:xfrm>
            <a:off x="7964424" y="2606040"/>
            <a:ext cx="0" cy="301752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187184" y="13716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alertas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la iglesia y alertas de vehículo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Entrar y estar seguro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u PIN de 6 números fondo"/>
          <p:cNvSpPr/>
          <p:nvPr/>
        </p:nvSpPr>
        <p:spPr>
          <a:xfrm>
            <a:off x="731520" y="173736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6" name="Tu PIN de 6 números" descr="Tu PIN de 6 núme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91566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PIN de 6 números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18928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entrar con tu WhatsApp o tu correo. Si lo olvidas, lo recuperas.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rotección contra intentos fondo"/>
          <p:cNvSpPr/>
          <p:nvPr/>
        </p:nvSpPr>
        <p:spPr>
          <a:xfrm>
            <a:off x="4846320" y="173736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1" name="Protección contra intentos" descr="Protección contra inten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9156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intentos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8928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5 errores, la cuenta se bloquea 15 minutos y la administración puede desbloquearla.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ada quien ve lo suyo fondo"/>
          <p:cNvSpPr/>
          <p:nvPr/>
        </p:nvSpPr>
        <p:spPr>
          <a:xfrm>
            <a:off x="731520" y="342900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6" name="Cada quien ve lo suyo" descr="Cada quien ve lo suy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6073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ve lo suyo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muestra solo lo que tu rol y tu grupo o ministerio permiten.</a:t>
            </a:r>
            <a:endParaRPr lang="en-US" sz="1300" dirty="0"/>
          </a:p>
        </p:txBody>
      </p:sp>
      <p:sp>
        <p:nvSpPr>
          <p:cNvPr id="19" name="tarjeta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Roles delicados, más protección fondo"/>
          <p:cNvSpPr/>
          <p:nvPr/>
        </p:nvSpPr>
        <p:spPr>
          <a:xfrm>
            <a:off x="4846320" y="342900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21" name="Roles delicados, más protección" descr="Roles delicados, más protec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6073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delicados, más protección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Pastor, Tesorero y administración usan una contraseña de 10 o más caracteres.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 y Mi cuenta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registro</a:t>
            </a:r>
            <a:endParaRPr lang="en-US" sz="1800" dirty="0"/>
          </a:p>
        </p:txBody>
      </p:sp>
      <p:sp>
        <p:nvSpPr>
          <p:cNvPr id="5" name="tarjeta"/>
          <p:cNvSpPr/>
          <p:nvPr/>
        </p:nvSpPr>
        <p:spPr>
          <a:xfrm>
            <a:off x="548640" y="164592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peldaño 1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190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WhatsApp y de dónde viene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548640" y="260604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eldaño 2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6791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asiste: se anotan sus procesos de discipulado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548640" y="356616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E3F4E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eldaño 3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36393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completo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datos; el sistema dice qué falta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 cuenta tú puedes</a:t>
            </a:r>
            <a:endParaRPr lang="en-US" sz="1800" dirty="0"/>
          </a:p>
        </p:txBody>
      </p:sp>
      <p:pic>
        <p:nvPicPr>
          <p:cNvPr id="18" name="Corregir tus datos básicos y tu domicilio" descr="Corregir tus datos básicos y tu domicil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3736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86400" y="1645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tus datos básicos y tu domicilio</a:t>
            </a:r>
            <a:endParaRPr lang="en-US" sz="1500" dirty="0"/>
          </a:p>
        </p:txBody>
      </p:sp>
      <p:pic>
        <p:nvPicPr>
          <p:cNvPr id="20" name="Subir tu foto, con tu permiso" descr="Subir tu foto, con tu permi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77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8640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tu foto, con tu permiso</a:t>
            </a:r>
            <a:endParaRPr lang="en-US" sz="1500" dirty="0"/>
          </a:p>
        </p:txBody>
      </p:sp>
      <p:pic>
        <p:nvPicPr>
          <p:cNvPr id="22" name="Registrar uno o varios vehículos" descr="Registrar uno o varios vehícul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175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uno o varios vehículos</a:t>
            </a:r>
            <a:endParaRPr lang="en-US" sz="1500" dirty="0"/>
          </a:p>
        </p:txBody>
      </p:sp>
      <p:pic>
        <p:nvPicPr>
          <p:cNvPr id="24" name="Activar notificaciones y elegir tu color" descr="Activar notificaciones y elegir tu col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5760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0" y="3566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notificaciones y elegir tu color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número, tu correo, tu grupo y tus roles los administra la iglesia.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Conexión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3258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6F2F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8288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8288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FA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ubica un grupo: Sector K, Casa 6.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suspender y reactivar con un motivo.</a:t>
            </a:r>
            <a:endParaRPr lang="en-US" sz="1200" dirty="0"/>
          </a:p>
        </p:txBody>
      </p:sp>
      <p:sp>
        <p:nvSpPr>
          <p:cNvPr id="11" name="Encuentra grupos fondo"/>
          <p:cNvSpPr/>
          <p:nvPr/>
        </p:nvSpPr>
        <p:spPr>
          <a:xfrm>
            <a:off x="4114800" y="1371600"/>
            <a:ext cx="594360" cy="59436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2" name="Encuentra grupos" descr="Encuentra grup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9334" y="15261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92040" y="1325880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grupos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nombre, líder, día, sector o estado.</a:t>
            </a:r>
            <a:endParaRPr lang="en-US" sz="1500" dirty="0"/>
          </a:p>
        </p:txBody>
      </p:sp>
      <p:sp>
        <p:nvSpPr>
          <p:cNvPr id="14" name="Invita por QR o enlace fondo"/>
          <p:cNvSpPr/>
          <p:nvPr/>
        </p:nvSpPr>
        <p:spPr>
          <a:xfrm>
            <a:off x="4114800" y="2176272"/>
            <a:ext cx="594360" cy="59436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5" name="Invita por QR o enlace" descr="Invita por QR o enl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334" y="2330806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213055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 por QR o enlace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espera y el líder la aprueba.</a:t>
            </a:r>
            <a:endParaRPr lang="en-US" sz="1500" dirty="0"/>
          </a:p>
        </p:txBody>
      </p:sp>
      <p:sp>
        <p:nvSpPr>
          <p:cNvPr id="17" name="Cada quien con su rol fondo"/>
          <p:cNvSpPr/>
          <p:nvPr/>
        </p:nvSpPr>
        <p:spPr>
          <a:xfrm>
            <a:off x="4114800" y="2980944"/>
            <a:ext cx="594360" cy="59436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8" name="Cada quien con su rol" descr="Cada quien con su r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334" y="3135478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92040" y="29352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con su rol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Líder, respaldo, supervisor, secretario, tesorero…</a:t>
            </a:r>
            <a:endParaRPr lang="en-US" sz="1500" dirty="0"/>
          </a:p>
        </p:txBody>
      </p:sp>
      <p:sp>
        <p:nvSpPr>
          <p:cNvPr id="20" name="Estudio de la semana fondo"/>
          <p:cNvSpPr/>
          <p:nvPr/>
        </p:nvSpPr>
        <p:spPr>
          <a:xfrm>
            <a:off x="4114800" y="3785616"/>
            <a:ext cx="594360" cy="59436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21" name="Estudio de la semana" descr="Estudio de la seman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334" y="3940150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92040" y="3739896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la semana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para adultos y niños, y el audio.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Pase de lista y ofrendas con doble aval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3716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se de lista fondo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6" name="Pase de lista" descr="Pase de li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de lista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Secretario toca a cada persona que llegó. Funciona sin internet.</a:t>
            </a:r>
            <a:endParaRPr lang="en-US" sz="1300" dirty="0"/>
          </a:p>
        </p:txBody>
      </p:sp>
      <p:sp>
        <p:nvSpPr>
          <p:cNvPr id="9" name="flecha 1"/>
          <p:cNvSpPr/>
          <p:nvPr/>
        </p:nvSpPr>
        <p:spPr>
          <a:xfrm>
            <a:off x="3044952" y="2194560"/>
            <a:ext cx="228600" cy="274320"/>
          </a:xfrm>
          <a:prstGeom prst="rightArrow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0" name="tarjeta"/>
          <p:cNvSpPr/>
          <p:nvPr/>
        </p:nvSpPr>
        <p:spPr>
          <a:xfrm>
            <a:off x="3291840" y="13716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aptura de la ofrenda fondo"/>
          <p:cNvSpPr/>
          <p:nvPr/>
        </p:nvSpPr>
        <p:spPr>
          <a:xfrm>
            <a:off x="3474720" y="1554480"/>
            <a:ext cx="640080" cy="64008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2" name="Captura de la ofrenda" descr="Captura de la ofren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72090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la ofrenda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Secretario anota lo contado.</a:t>
            </a:r>
            <a:endParaRPr lang="en-US" sz="1300" dirty="0"/>
          </a:p>
        </p:txBody>
      </p:sp>
      <p:sp>
        <p:nvSpPr>
          <p:cNvPr id="15" name="flecha 2"/>
          <p:cNvSpPr/>
          <p:nvPr/>
        </p:nvSpPr>
        <p:spPr>
          <a:xfrm>
            <a:off x="5788152" y="2194560"/>
            <a:ext cx="228600" cy="274320"/>
          </a:xfrm>
          <a:prstGeom prst="rightArrow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6" name="tarjeta"/>
          <p:cNvSpPr/>
          <p:nvPr/>
        </p:nvSpPr>
        <p:spPr>
          <a:xfrm>
            <a:off x="6035040" y="137160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Aval del Tesorero fondo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8" name="Aval del Tesorero" descr="Aval del Tesore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72090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 del Tesorero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1792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aparte, escribe su cifra y confirma con su PIN.</a:t>
            </a:r>
            <a:endParaRPr lang="en-US" sz="1300" dirty="0"/>
          </a:p>
        </p:txBody>
      </p:sp>
      <p:sp>
        <p:nvSpPr>
          <p:cNvPr id="21" name="tarjeta"/>
          <p:cNvSpPr/>
          <p:nvPr/>
        </p:nvSpPr>
        <p:spPr>
          <a:xfrm>
            <a:off x="548640" y="361188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E3F4E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coincide" descr="Coinc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3611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coincide, queda avalada.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corrección pide un nuevo aval.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4663440" y="3611880"/>
            <a:ext cx="3931920" cy="914400"/>
          </a:xfrm>
          <a:prstGeom prst="roundRect">
            <a:avLst>
              <a:gd name="adj" fmla="val 12000"/>
            </a:avLst>
          </a:prstGeom>
          <a:solidFill>
            <a:srgbClr val="FDF1DA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diferencia" descr="Diferenc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404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3611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coincide, se marca.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líder y los supervisores reciben la alerta.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Peticiones de oración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pueden pedir oración. Tú eliges quién la ve:</a:t>
            </a:r>
            <a:endParaRPr lang="en-US" sz="1800" dirty="0"/>
          </a:p>
        </p:txBody>
      </p:sp>
      <p:sp>
        <p:nvSpPr>
          <p:cNvPr id="5" name="tarjeta"/>
          <p:cNvSpPr/>
          <p:nvPr/>
        </p:nvSpPr>
        <p:spPr>
          <a:xfrm>
            <a:off x="548640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olo líderes fondo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7" name="Solo líderes" descr="Solo líde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líderes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de la iglesia, además de ti.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3291840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Equipo de oración fondo"/>
          <p:cNvSpPr/>
          <p:nvPr/>
        </p:nvSpPr>
        <p:spPr>
          <a:xfrm>
            <a:off x="3474720" y="1828800"/>
            <a:ext cx="640080" cy="64008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2" name="Equipo de oración" descr="Equipo de ora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199522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oración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quienes oran por la iglesia.</a:t>
            </a:r>
            <a:endParaRPr lang="en-US" sz="1300" dirty="0"/>
          </a:p>
        </p:txBody>
      </p:sp>
      <p:sp>
        <p:nvSpPr>
          <p:cNvPr id="15" name="tarjeta"/>
          <p:cNvSpPr/>
          <p:nvPr/>
        </p:nvSpPr>
        <p:spPr>
          <a:xfrm>
            <a:off x="6035040" y="164592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Mi grupo o ministerio fondo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7" name="Mi grupo o ministerio" descr="Mi grupo o minister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9952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179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grupo o ministerio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179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personas que participan ahí.</a:t>
            </a:r>
            <a:endParaRPr lang="en-US" sz="1300" dirty="0"/>
          </a:p>
        </p:txBody>
      </p:sp>
      <p:sp>
        <p:nvSpPr>
          <p:cNvPr id="20" name="tarjeta"/>
          <p:cNvSpPr/>
          <p:nvPr/>
        </p:nvSpPr>
        <p:spPr>
          <a:xfrm>
            <a:off x="548640" y="365760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3F4E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Se guardan cifradas" descr="Se guardan cifra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3657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guardan cifradas</a:t>
            </a:r>
            <a:endParaRPr lang="en-US" sz="1300" dirty="0"/>
          </a:p>
        </p:txBody>
      </p:sp>
      <p:sp>
        <p:nvSpPr>
          <p:cNvPr id="23" name="tarjeta"/>
          <p:cNvSpPr/>
          <p:nvPr/>
        </p:nvSpPr>
        <p:spPr>
          <a:xfrm>
            <a:off x="3291840" y="365760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3F4E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Se borran solas a los 30 días" descr="Se borran solas a los 30 dí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88620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977640" y="3657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borran solas a los 30 días</a:t>
            </a:r>
            <a:endParaRPr lang="en-US" sz="1300" dirty="0"/>
          </a:p>
        </p:txBody>
      </p:sp>
      <p:sp>
        <p:nvSpPr>
          <p:cNvPr id="26" name="tarjeta"/>
          <p:cNvSpPr/>
          <p:nvPr/>
        </p:nvSpPr>
        <p:spPr>
          <a:xfrm>
            <a:off x="6035040" y="365760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3F4E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7" name="Siempre dicen de dónde vienen" descr="Siempre dicen de dónde vien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88620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20840" y="36576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dicen de dónde vienen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Avisos que llegan a donde debe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2801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Para ti" descr="Para 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ti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dirigidos a ti.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2880360" y="12801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Toda la iglesia" descr="Toda la igles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4630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632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iglesia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306324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generales.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548640" y="2880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Mis grupos" descr="Mis grup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15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grupos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3152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de cada grupo.</a:t>
            </a:r>
            <a:endParaRPr lang="en-US" sz="1200" dirty="0"/>
          </a:p>
        </p:txBody>
      </p:sp>
      <p:sp>
        <p:nvSpPr>
          <p:cNvPr id="16" name="tarjeta"/>
          <p:cNvSpPr/>
          <p:nvPr/>
        </p:nvSpPr>
        <p:spPr>
          <a:xfrm>
            <a:off x="2880360" y="2880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Mis ministerios" descr="Mis ministeri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06324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063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ministerios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306324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de cada ministerio.</a:t>
            </a:r>
            <a:endParaRPr lang="en-US" sz="1200" dirty="0"/>
          </a:p>
        </p:txBody>
      </p:sp>
      <p:sp>
        <p:nvSpPr>
          <p:cNvPr id="20" name="tarjeta"/>
          <p:cNvSpPr/>
          <p:nvPr/>
        </p:nvSpPr>
        <p:spPr>
          <a:xfrm>
            <a:off x="5349240" y="128016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F6F2FB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aviso masivo" descr="Aviso masiv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1508760"/>
            <a:ext cx="548640" cy="5486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5778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aviso, varios destinos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557784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tiene permiso escribe una vez y marca a quién va: iglesia, grupos, ministerios o personas.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5577840" y="3520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notificaciones activadas, te llega una alerta al teléfono.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Ministerios: las áreas de servicio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280160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rol Encargado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pic>
        <p:nvPicPr>
          <p:cNvPr id="6" name="Encargado" descr="Encarg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618488"/>
            <a:ext cx="283464" cy="2834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2801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del ministerio. Agrega servidores, publica avisos y registra peticiones.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548640" y="2359152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rol Respaldo"/>
          <p:cNvSpPr/>
          <p:nvPr/>
        </p:nvSpPr>
        <p:spPr>
          <a:xfrm>
            <a:off x="731520" y="2542032"/>
            <a:ext cx="594360" cy="594360"/>
          </a:xfrm>
          <a:prstGeom prst="ellipse">
            <a:avLst/>
          </a:prstGeom>
          <a:solidFill>
            <a:srgbClr val="8E6BBF"/>
          </a:solidFill>
          <a:ln w="12700">
            <a:solidFill>
              <a:srgbClr val="8E6BBF"/>
            </a:solidFill>
            <a:prstDash val="solid"/>
          </a:ln>
        </p:spPr>
      </p:sp>
      <p:pic>
        <p:nvPicPr>
          <p:cNvPr id="10" name="Respaldo" descr="Respal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97480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23591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 respaldo del encargado, con las mismas facultades.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548640" y="3438144"/>
            <a:ext cx="49377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rol Servidor"/>
          <p:cNvSpPr/>
          <p:nvPr/>
        </p:nvSpPr>
        <p:spPr>
          <a:xfrm>
            <a:off x="731520" y="3621024"/>
            <a:ext cx="594360" cy="59436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14" name="Servidor" descr="Servi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776472"/>
            <a:ext cx="283464" cy="2834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3438144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en el ministerio y ve su tablero de avisos.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</a:t>
            </a:r>
            <a:endParaRPr lang="en-US" sz="1600" dirty="0"/>
          </a:p>
        </p:txBody>
      </p:sp>
      <p:sp>
        <p:nvSpPr>
          <p:cNvPr id="17" name="etiqueta Cafetería"/>
          <p:cNvSpPr/>
          <p:nvPr/>
        </p:nvSpPr>
        <p:spPr>
          <a:xfrm>
            <a:off x="5852160" y="17373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85216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Cafetería</a:t>
            </a:r>
            <a:endParaRPr lang="en-US" sz="1200" dirty="0"/>
          </a:p>
        </p:txBody>
      </p:sp>
      <p:sp>
        <p:nvSpPr>
          <p:cNvPr id="19" name="etiqueta Librería"/>
          <p:cNvSpPr/>
          <p:nvPr/>
        </p:nvSpPr>
        <p:spPr>
          <a:xfrm>
            <a:off x="5852160" y="21945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52160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</a:t>
            </a:r>
            <a:endParaRPr lang="en-US" sz="1200" dirty="0"/>
          </a:p>
        </p:txBody>
      </p:sp>
      <p:sp>
        <p:nvSpPr>
          <p:cNvPr id="21" name="etiqueta Niños"/>
          <p:cNvSpPr/>
          <p:nvPr/>
        </p:nvSpPr>
        <p:spPr>
          <a:xfrm>
            <a:off x="5852160" y="26517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852160" y="2651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</a:t>
            </a:r>
            <a:endParaRPr lang="en-US" sz="1200" dirty="0"/>
          </a:p>
        </p:txBody>
      </p:sp>
      <p:sp>
        <p:nvSpPr>
          <p:cNvPr id="23" name="etiqueta Danza"/>
          <p:cNvSpPr/>
          <p:nvPr/>
        </p:nvSpPr>
        <p:spPr>
          <a:xfrm>
            <a:off x="5852160" y="31089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85216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Danza</a:t>
            </a:r>
            <a:endParaRPr lang="en-US" sz="1200" dirty="0"/>
          </a:p>
        </p:txBody>
      </p:sp>
      <p:sp>
        <p:nvSpPr>
          <p:cNvPr id="25" name="etiqueta Y los que la iglesia cree"/>
          <p:cNvSpPr/>
          <p:nvPr/>
        </p:nvSpPr>
        <p:spPr>
          <a:xfrm>
            <a:off x="5852160" y="356616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FDF1DA"/>
          </a:solidFill>
          <a:ln w="12700">
            <a:solidFill>
              <a:srgbClr val="FDF1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85216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los que la iglesia cree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852160" y="4069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encargado de la cafetería no ve la librería, aunque sirva ahí como servidor.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datos, cuidados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Aviso y consentimiento" descr="Aviso y consentimi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75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1938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y consentimiento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22128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se registra sin aceptar el aviso de privacidad.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Tu foto, con tu permiso" descr="Tu foto, con tu permi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44752"/>
            <a:ext cx="411480" cy="411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474720" y="1938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foto, con tu permiso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474720" y="22128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 tiene su propia autorización.</a:t>
            </a:r>
            <a:endParaRPr lang="en-US" sz="1200" dirty="0"/>
          </a:p>
        </p:txBody>
      </p:sp>
      <p:sp>
        <p:nvSpPr>
          <p:cNvPr id="12" name="tarjeta"/>
          <p:cNvSpPr/>
          <p:nvPr/>
        </p:nvSpPr>
        <p:spPr>
          <a:xfrm>
            <a:off x="6035040" y="12801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nformación protegida" descr="Información protegi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44752"/>
            <a:ext cx="411480" cy="411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17920" y="1938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protegida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217920" y="22128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peticiones se guardan cifradas y se borran solas.</a:t>
            </a:r>
            <a:endParaRPr lang="en-US" sz="1200" dirty="0"/>
          </a:p>
        </p:txBody>
      </p:sp>
      <p:sp>
        <p:nvSpPr>
          <p:cNvPr id="16" name="tarjeta"/>
          <p:cNvSpPr/>
          <p:nvPr/>
        </p:nvSpPr>
        <p:spPr>
          <a:xfrm>
            <a:off x="548640" y="29718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Bitácora" descr="Bitáco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36392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31520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3152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registro de quién consulta o cambia información importante.</a:t>
            </a:r>
            <a:endParaRPr lang="en-US" sz="1200" dirty="0"/>
          </a:p>
        </p:txBody>
      </p:sp>
      <p:sp>
        <p:nvSpPr>
          <p:cNvPr id="20" name="tarjeta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Vehículos" descr="Vehícul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36392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474720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347472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ubicarte con rapidez por un asunto de tu vehículo.</a:t>
            </a:r>
            <a:endParaRPr lang="en-US" sz="1200" dirty="0"/>
          </a:p>
        </p:txBody>
      </p:sp>
      <p:sp>
        <p:nvSpPr>
          <p:cNvPr id="24" name="tarjeta"/>
          <p:cNvSpPr/>
          <p:nvPr/>
        </p:nvSpPr>
        <p:spPr>
          <a:xfrm>
            <a:off x="6035040" y="29718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5" name="Tus derechos" descr="Tus derech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36392"/>
            <a:ext cx="411480" cy="41148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217920" y="3630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derechos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621792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pedir ver, corregir o quitar tus datos.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sin programar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Roles y permisos fondo"/>
          <p:cNvSpPr/>
          <p:nvPr/>
        </p:nvSpPr>
        <p:spPr>
          <a:xfrm>
            <a:off x="731520" y="173736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6" name="Roles y permisos" descr="Roles y permi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91566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18928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un rol y se marca qué puede hacer, por pantalla y acción.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Formularios a la medida fondo"/>
          <p:cNvSpPr/>
          <p:nvPr/>
        </p:nvSpPr>
        <p:spPr>
          <a:xfrm>
            <a:off x="4846320" y="173736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1" name="Formularios a la medida" descr="Formularios a la medi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91566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a la medida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8928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agregan campos a Personas y Grupos. Nunca se borran: se desactivan.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5486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Aviso de privacidad fondo"/>
          <p:cNvSpPr/>
          <p:nvPr/>
        </p:nvSpPr>
        <p:spPr>
          <a:xfrm>
            <a:off x="731520" y="342900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16" name="Aviso de privacidad" descr="Aviso de privacid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6073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privacidad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publica una versión nueva y cada persona la acepta.</a:t>
            </a:r>
            <a:endParaRPr lang="en-US" sz="1300" dirty="0"/>
          </a:p>
        </p:txBody>
      </p:sp>
      <p:sp>
        <p:nvSpPr>
          <p:cNvPr id="19" name="tarjeta"/>
          <p:cNvSpPr/>
          <p:nvPr/>
        </p:nvSpPr>
        <p:spPr>
          <a:xfrm>
            <a:off x="4663440" y="30175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itácora y configuración fondo"/>
          <p:cNvSpPr/>
          <p:nvPr/>
        </p:nvSpPr>
        <p:spPr>
          <a:xfrm>
            <a:off x="4846320" y="3429000"/>
            <a:ext cx="685800" cy="685800"/>
          </a:xfrm>
          <a:prstGeom prst="ellipse">
            <a:avLst/>
          </a:prstGeom>
          <a:solidFill>
            <a:srgbClr val="EFE9F7"/>
          </a:solidFill>
          <a:ln w="12700">
            <a:solidFill>
              <a:srgbClr val="EFE9F7"/>
            </a:solidFill>
            <a:prstDash val="solid"/>
          </a:ln>
        </p:spPr>
      </p:sp>
      <p:pic>
        <p:nvPicPr>
          <p:cNvPr id="21" name="Bitácora y configuración" descr="Bitácora y configura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6073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y configuración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58444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qué pasa en el sistema y se ajustan los parámetros.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viene</a:t>
            </a:r>
            <a:endParaRPr lang="en-US" sz="3000" dirty="0"/>
          </a:p>
        </p:txBody>
      </p:sp>
      <p:sp>
        <p:nvSpPr>
          <p:cNvPr id="4" name="tarjeta"/>
          <p:cNvSpPr/>
          <p:nvPr/>
        </p:nvSpPr>
        <p:spPr>
          <a:xfrm>
            <a:off x="5486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DF1DA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iños y familias fondo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Niños y familias" descr="Niños y famil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86994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 y familias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181051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familiar, tutor y personas autorizadas a recoger. Después, el registro de entrada y salida con código.</a:t>
            </a:r>
            <a:endParaRPr lang="en-US" sz="1300" dirty="0"/>
          </a:p>
        </p:txBody>
      </p:sp>
      <p:sp>
        <p:nvSpPr>
          <p:cNvPr id="9" name="tarjeta"/>
          <p:cNvSpPr/>
          <p:nvPr/>
        </p:nvSpPr>
        <p:spPr>
          <a:xfrm>
            <a:off x="4663440" y="128016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DF1DA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ursos fondo"/>
          <p:cNvSpPr/>
          <p:nvPr/>
        </p:nvSpPr>
        <p:spPr>
          <a:xfrm>
            <a:off x="4846320" y="169164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Cursos" descr="Cur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86994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81051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Inscripción, asistencia, tareas, evaluación al ponente y diplomas; también cursos con calificaciones.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548640" y="297180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DF1DA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Eventos y servicio fondo"/>
          <p:cNvSpPr/>
          <p:nvPr/>
        </p:nvSpPr>
        <p:spPr>
          <a:xfrm>
            <a:off x="731520" y="33832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Eventos y servicio" descr="Eventos y servic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56158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servicio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350215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con cupo, turnos de servicio, inventario básico y organigrama por área.</a:t>
            </a:r>
            <a:endParaRPr lang="en-US" sz="1300" dirty="0"/>
          </a:p>
        </p:txBody>
      </p:sp>
      <p:sp>
        <p:nvSpPr>
          <p:cNvPr id="19" name="tarjeta"/>
          <p:cNvSpPr/>
          <p:nvPr/>
        </p:nvSpPr>
        <p:spPr>
          <a:xfrm>
            <a:off x="4663440" y="297180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DF1DA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Reportes y alertas fondo"/>
          <p:cNvSpPr/>
          <p:nvPr/>
        </p:nvSpPr>
        <p:spPr>
          <a:xfrm>
            <a:off x="4846320" y="33832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Reportes y alertas" descr="Reportes y alert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5615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alertas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50215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asistencia y crecimiento, y alertas por placa de vehículo para seguridad.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B2A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estamos definiendo contigo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abrirlo a toda la congregación, estamos cuidando estos puntos:</a:t>
            </a:r>
            <a:endParaRPr lang="en-US" sz="1700" dirty="0"/>
          </a:p>
        </p:txBody>
      </p:sp>
      <p:sp>
        <p:nvSpPr>
          <p:cNvPr id="5" name="tarjeta"/>
          <p:cNvSpPr/>
          <p:nvPr/>
        </p:nvSpPr>
        <p:spPr>
          <a:xfrm>
            <a:off x="548640" y="16459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Aviso de privacidad oficial" descr="Aviso de privacidad ofi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645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privacidad oficial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legal del texto definitivo.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663440" y="16459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Derechos sobre tus datos" descr="Derechos sobre tus da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7452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40680" y="1645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sobre tus datos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pide ver, corregir o quitar tus datos.</a:t>
            </a: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548640" y="2633472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Datos de niños" descr="Datos de niñ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62072"/>
            <a:ext cx="411480" cy="4114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26334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niños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registrarlos y quién da el consentimiento.</a:t>
            </a:r>
            <a:endParaRPr lang="en-US" sz="1400" dirty="0"/>
          </a:p>
        </p:txBody>
      </p:sp>
      <p:sp>
        <p:nvSpPr>
          <p:cNvPr id="14" name="tarjeta"/>
          <p:cNvSpPr/>
          <p:nvPr/>
        </p:nvSpPr>
        <p:spPr>
          <a:xfrm>
            <a:off x="4663440" y="2633472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Permisos de cada rol" descr="Permisos de cada r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62072"/>
            <a:ext cx="411480" cy="4114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440680" y="263347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de cada rol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qué puede hacer cada rol en tu iglesia.</a:t>
            </a:r>
            <a:endParaRPr lang="en-US" sz="1400" dirty="0"/>
          </a:p>
        </p:txBody>
      </p:sp>
      <p:sp>
        <p:nvSpPr>
          <p:cNvPr id="17" name="tarjeta"/>
          <p:cNvSpPr/>
          <p:nvPr/>
        </p:nvSpPr>
        <p:spPr>
          <a:xfrm>
            <a:off x="548640" y="3621024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Copias de seguridad" descr="Copias de segurid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9624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25880" y="36210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seguridad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y cada cuándo se respalda la información.</a:t>
            </a:r>
            <a:endParaRPr lang="en-US" sz="1400" dirty="0"/>
          </a:p>
        </p:txBody>
      </p:sp>
      <p:sp>
        <p:nvSpPr>
          <p:cNvPr id="20" name="tarjeta"/>
          <p:cNvSpPr/>
          <p:nvPr/>
        </p:nvSpPr>
        <p:spPr>
          <a:xfrm>
            <a:off x="4663440" y="3621024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DC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Uso para todas las edades" descr="Uso para todas las edad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849624"/>
            <a:ext cx="411480" cy="41148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40680" y="36210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2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para todas las edades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Probarlo con personas mayores y con iPhone.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 decorativo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4B2A7B">
              <a:alpha val="65000"/>
            </a:srgbClr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Probemos juntos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4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opinión hace que MDF360 sirva de verdad.</a:t>
            </a:r>
            <a:endParaRPr lang="en-US" sz="2000" dirty="0"/>
          </a:p>
        </p:txBody>
      </p:sp>
      <p:sp>
        <p:nvSpPr>
          <p:cNvPr id="6" name="paso Úsala"/>
          <p:cNvSpPr/>
          <p:nvPr/>
        </p:nvSpPr>
        <p:spPr>
          <a:xfrm>
            <a:off x="64008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4B2A7B"/>
          </a:solidFill>
          <a:ln w="12700">
            <a:solidFill>
              <a:srgbClr val="8E6B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Úsala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Entra, pasa lista, pide oración y recorre tu menú.</a:t>
            </a:r>
            <a:endParaRPr lang="en-US" sz="1400" dirty="0"/>
          </a:p>
        </p:txBody>
      </p:sp>
      <p:sp>
        <p:nvSpPr>
          <p:cNvPr id="9" name="paso Anota"/>
          <p:cNvSpPr/>
          <p:nvPr/>
        </p:nvSpPr>
        <p:spPr>
          <a:xfrm>
            <a:off x="333756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4B2A7B"/>
          </a:solidFill>
          <a:ln w="12700">
            <a:solidFill>
              <a:srgbClr val="8E6B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3291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entienda o no funcione, con una captura si puedes.</a:t>
            </a:r>
            <a:endParaRPr lang="en-US" sz="1400" dirty="0"/>
          </a:p>
        </p:txBody>
      </p:sp>
      <p:sp>
        <p:nvSpPr>
          <p:cNvPr id="12" name="paso Cuéntanos"/>
          <p:cNvSpPr/>
          <p:nvPr/>
        </p:nvSpPr>
        <p:spPr>
          <a:xfrm>
            <a:off x="6035040" y="274320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4B2A7B"/>
          </a:solidFill>
          <a:ln w="12700">
            <a:solidFill>
              <a:srgbClr val="8E6B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Cuéntanos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291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Díselo a tu líder o al equipo de pruebas.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F360">
  <a:themeElements>
    <a:clrScheme name="MDF360">
      <a:dk1>
        <a:srgbClr val="2B2B2B"/>
      </a:dk1>
      <a:lt1>
        <a:srgbClr val="FFFFFF"/>
      </a:lt1>
      <a:dk2>
        <a:srgbClr val="4B2A7B"/>
      </a:dk2>
      <a:lt2>
        <a:srgbClr val="F6F2FB"/>
      </a:lt2>
      <a:accent1>
        <a:srgbClr val="4B2A7B"/>
      </a:accent1>
      <a:accent2>
        <a:srgbClr val="2FA36B"/>
      </a:accent2>
      <a:accent3>
        <a:srgbClr val="E8A33D"/>
      </a:accent3>
      <a:accent4>
        <a:srgbClr val="2E1A4F"/>
      </a:accent4>
      <a:accent5>
        <a:srgbClr val="8E6BBF"/>
      </a:accent5>
      <a:accent6>
        <a:srgbClr val="6B6B6B"/>
      </a:accent6>
      <a:hlink>
        <a:srgbClr val="4B2A7B"/>
      </a:hlink>
      <a:folHlink>
        <a:srgbClr val="8E6BBF"/>
      </a:folHlink>
    </a:clrScheme>
    <a:fontScheme name="MDF36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MDF360: lo que ya funciona y lo que viene</dc:title>
  <dc:subject>PptxGenJS Presentation</dc:subject>
  <dc:creator>Mundo de Fe México</dc:creator>
  <cp:lastModifiedBy>Mundo de Fe México</cp:lastModifiedBy>
  <cp:revision>1</cp:revision>
  <dcterms:created xsi:type="dcterms:W3CDTF">2026-10-29T20:16:18Z</dcterms:created>
  <dcterms:modified xsi:type="dcterms:W3CDTF">2026-10-29T20:16:18Z</dcterms:modified>
</cp:coreProperties>
</file>